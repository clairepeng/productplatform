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75320" y="749808"/>
            <a:ext cx="3246120" cy="5285232"/>
          </a:xfrm>
          <a:prstGeom prst="roundRect">
            <a:avLst/>
          </a:prstGeom>
          <a:solidFill>
            <a:srgbClr val="1C3B5B"/>
          </a:solidFill>
          <a:ln w="10160">
            <a:solidFill>
              <a:srgbClr val="1C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7223760" cy="1691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PingFang SC" panose="020B0400000000000000" charset="-122"/>
              </a:rPr>
              <a:t>企业智能
融资匹配平台</a:t>
            </a:r>
            <a:endParaRPr sz="37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3291840"/>
            <a:ext cx="7132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0E0EC"/>
                </a:solidFill>
                <a:latin typeface="PingFang SC" panose="020B0400000000000000" charset="-122"/>
              </a:rPr>
              <a:t>让产品规则可计算，让每次推荐可追溯</a:t>
            </a:r>
            <a:endParaRPr sz="1800" b="0">
              <a:solidFill>
                <a:srgbClr val="D0E0EC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3950208"/>
            <a:ext cx="5943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7C9"/>
                </a:solidFill>
                <a:latin typeface="PingFang SC" panose="020B0400000000000000" charset="-122"/>
              </a:rPr>
              <a:t>CtrlShiftAI  |  Agent 大赛 · 赛题05</a:t>
            </a:r>
            <a:endParaRPr sz="1300" b="0">
              <a:solidFill>
                <a:srgbClr val="9FB7C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732520" y="1417320"/>
            <a:ext cx="1325880" cy="475488"/>
          </a:xfrm>
          <a:prstGeom prst="round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1490472"/>
            <a:ext cx="119786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A43"/>
                </a:solidFill>
                <a:latin typeface="PingFang SC" panose="020B0400000000000000" charset="-122"/>
              </a:rPr>
              <a:t>产品条款</a:t>
            </a:r>
            <a:endParaRPr sz="11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9390888" y="1901952"/>
            <a:ext cx="256032" cy="320040"/>
          </a:xfrm>
          <a:prstGeom prst="line">
            <a:avLst/>
          </a:prstGeom>
          <a:ln w="19050">
            <a:solidFill>
              <a:srgbClr val="A7B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2240280"/>
            <a:ext cx="1325880" cy="475488"/>
          </a:xfrm>
          <a:prstGeom prst="roundRect">
            <a:avLst/>
          </a:prstGeom>
          <a:solidFill>
            <a:srgbClr val="F2B84B"/>
          </a:solidFill>
          <a:ln w="1016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8" y="2313432"/>
            <a:ext cx="119786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A43"/>
                </a:solidFill>
                <a:latin typeface="PingFang SC" panose="020B0400000000000000" charset="-122"/>
              </a:rPr>
              <a:t>企业需求</a:t>
            </a:r>
            <a:endParaRPr sz="11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0716768" y="2724912"/>
            <a:ext cx="256032" cy="320040"/>
          </a:xfrm>
          <a:prstGeom prst="line">
            <a:avLst/>
          </a:prstGeom>
          <a:ln w="19050">
            <a:solidFill>
              <a:srgbClr val="A7B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3960" y="3154680"/>
            <a:ext cx="1325880" cy="475488"/>
          </a:xfrm>
          <a:prstGeom prst="roundRect">
            <a:avLst/>
          </a:prstGeom>
          <a:solidFill>
            <a:srgbClr val="76A7E8"/>
          </a:solidFill>
          <a:ln w="10160">
            <a:solidFill>
              <a:srgbClr val="76A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227832"/>
            <a:ext cx="119786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A43"/>
                </a:solidFill>
                <a:latin typeface="PingFang SC" panose="020B0400000000000000" charset="-122"/>
              </a:rPr>
              <a:t>授权数据</a:t>
            </a:r>
            <a:endParaRPr sz="11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482328" y="3639312"/>
            <a:ext cx="256032" cy="320040"/>
          </a:xfrm>
          <a:prstGeom prst="line">
            <a:avLst/>
          </a:prstGeom>
          <a:ln w="19050">
            <a:solidFill>
              <a:srgbClr val="A7B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4069080"/>
            <a:ext cx="1325880" cy="475488"/>
          </a:xfrm>
          <a:prstGeom prst="roundRect">
            <a:avLst/>
          </a:prstGeom>
          <a:solidFill>
            <a:srgbClr val="67D0AE"/>
          </a:solidFill>
          <a:ln w="10160">
            <a:solidFill>
              <a:srgbClr val="67D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4142232"/>
            <a:ext cx="119786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A43"/>
                </a:solidFill>
                <a:latin typeface="PingFang SC" panose="020B0400000000000000" charset="-122"/>
              </a:rPr>
              <a:t>可解释匹配</a:t>
            </a:r>
            <a:endParaRPr sz="11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0716768" y="4553712"/>
            <a:ext cx="256032" cy="320040"/>
          </a:xfrm>
          <a:prstGeom prst="line">
            <a:avLst/>
          </a:prstGeom>
          <a:ln w="19050">
            <a:solidFill>
              <a:srgbClr val="A7B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96528" y="4983480"/>
            <a:ext cx="1325880" cy="475488"/>
          </a:xfrm>
          <a:prstGeom prst="roundRect">
            <a:avLst/>
          </a:prstGeom>
          <a:solidFill>
            <a:srgbClr val="B4C7D7"/>
          </a:solidFill>
          <a:ln w="10160">
            <a:solidFill>
              <a:srgbClr val="B4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5056632"/>
            <a:ext cx="119786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2A43"/>
                </a:solidFill>
                <a:latin typeface="PingFang SC" panose="020B0400000000000000" charset="-122"/>
              </a:rPr>
              <a:t>人工确认</a:t>
            </a:r>
            <a:endParaRPr sz="11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6949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8CAD8"/>
                </a:solidFill>
                <a:latin typeface="PingFang SC" panose="020B0400000000000000" charset="-122"/>
              </a:rPr>
              <a:t>11 份产品  ·  18 条规则  ·  可选大模型</a:t>
            </a:r>
            <a:endParaRPr sz="1300" b="1">
              <a:solidFill>
                <a:srgbClr val="B8CAD8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7BDCF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A7BDCF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7BDCF"/>
                </a:solidFill>
                <a:latin typeface="PingFang SC" panose="020B0400000000000000" charset="-122"/>
              </a:rPr>
              <a:t>01  /  09</a:t>
            </a:r>
            <a:endParaRPr sz="800" b="0">
              <a:solidFill>
                <a:srgbClr val="A7BDC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02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难点不是“缺模型”，而是口径与协同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客户经理要把多份产品条款与多源企业事实逐项对齐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02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7091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42A43"/>
                </a:solidFill>
                <a:latin typeface="PingFang SC" panose="020B0400000000000000" charset="-122"/>
              </a:rPr>
              <a:t>人工逐项比对，
最怕“口径看错、证据断链、授权越界”。</a:t>
            </a:r>
            <a:endParaRPr sz="23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675887"/>
            <a:ext cx="443484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07386"/>
                </a:solidFill>
                <a:latin typeface="PingFang SC" panose="020B0400000000000000" charset="-122"/>
              </a:rPr>
              <a:t>把自然语言、产品条款和企业事实，收敛到同一套可审阅流程。</a:t>
            </a:r>
            <a:endParaRPr sz="15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15000" y="2084831"/>
            <a:ext cx="57607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194560"/>
            <a:ext cx="7772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0A6A6"/>
                </a:solidFill>
                <a:latin typeface="PingFang SC" panose="020B0400000000000000" charset="-122"/>
              </a:rPr>
              <a:t>11</a:t>
            </a:r>
            <a:endParaRPr sz="27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12280" y="2221991"/>
            <a:ext cx="1828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份产品说明书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05088" y="2258568"/>
            <a:ext cx="25146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07386"/>
                </a:solidFill>
                <a:latin typeface="PingFang SC" panose="020B0400000000000000" charset="-122"/>
              </a:rPr>
              <a:t>条款与宣传口径要区分</a:t>
            </a:r>
            <a:endParaRPr sz="11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15000" y="3255263"/>
            <a:ext cx="57607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364991"/>
            <a:ext cx="7772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364AA"/>
                </a:solidFill>
                <a:latin typeface="PingFang SC" panose="020B0400000000000000" charset="-122"/>
              </a:rPr>
              <a:t>5</a:t>
            </a:r>
            <a:endParaRPr sz="2700" b="1">
              <a:solidFill>
                <a:srgbClr val="2364AA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12280" y="3392423"/>
            <a:ext cx="1828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类企业数据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05088" y="3428999"/>
            <a:ext cx="25146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07386"/>
                </a:solidFill>
                <a:latin typeface="PingFang SC" panose="020B0400000000000000" charset="-122"/>
              </a:rPr>
              <a:t>授权、完整性与来源要核验</a:t>
            </a:r>
            <a:endParaRPr sz="11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15000" y="4425696"/>
            <a:ext cx="57607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4535424"/>
            <a:ext cx="7772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0A6A6"/>
                </a:solidFill>
                <a:latin typeface="PingFang SC" panose="020B0400000000000000" charset="-122"/>
              </a:rPr>
              <a:t>4</a:t>
            </a:r>
            <a:endParaRPr sz="27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2280" y="4562856"/>
            <a:ext cx="1828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项融资需求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05088" y="4599432"/>
            <a:ext cx="25146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07386"/>
                </a:solidFill>
                <a:latin typeface="PingFang SC" panose="020B0400000000000000" charset="-122"/>
              </a:rPr>
              <a:t>企业 / 金额 / 期限 / 用途</a:t>
            </a:r>
            <a:endParaRPr sz="11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03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一条闭环：从产品入库到方案留痕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先抽取、再授权取数、逐产品预审，最后由客户经理确认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03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0574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496312"/>
            <a:ext cx="484632" cy="384048"/>
          </a:xfrm>
          <a:prstGeom prst="round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2551176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01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1" y="3081527"/>
            <a:ext cx="1737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A43"/>
                </a:solidFill>
                <a:latin typeface="PingFang SC" panose="020B0400000000000000" charset="-122"/>
              </a:rPr>
              <a:t>产品入库</a:t>
            </a:r>
            <a:endParaRPr sz="16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1" y="3557015"/>
            <a:ext cx="17373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386"/>
                </a:solidFill>
                <a:latin typeface="PingFang SC" panose="020B0400000000000000" charset="-122"/>
              </a:rPr>
              <a:t>上传 PDF
抽取关键条款</a:t>
            </a:r>
            <a:endParaRPr sz="12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34056" y="3172968"/>
            <a:ext cx="228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A6A6"/>
                </a:solidFill>
                <a:latin typeface="PingFang SC" panose="020B0400000000000000" charset="-122"/>
              </a:rPr>
              <a:t>›</a:t>
            </a:r>
            <a:endParaRPr sz="25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99232" y="2331720"/>
            <a:ext cx="20574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63824" y="2496312"/>
            <a:ext cx="484632" cy="384048"/>
          </a:xfrm>
          <a:prstGeom prst="round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551176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02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63824" y="3081527"/>
            <a:ext cx="1737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A43"/>
                </a:solidFill>
                <a:latin typeface="PingFang SC" panose="020B0400000000000000" charset="-122"/>
              </a:rPr>
              <a:t>对话录入</a:t>
            </a:r>
            <a:endParaRPr sz="16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63824" y="3557015"/>
            <a:ext cx="17373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386"/>
                </a:solidFill>
                <a:latin typeface="PingFang SC" panose="020B0400000000000000" charset="-122"/>
              </a:rPr>
              <a:t>收集四项需求
缺项先追问</a:t>
            </a:r>
            <a:endParaRPr sz="12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93208" y="3172968"/>
            <a:ext cx="228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A6A6"/>
                </a:solidFill>
                <a:latin typeface="PingFang SC" panose="020B0400000000000000" charset="-122"/>
              </a:rPr>
              <a:t>›</a:t>
            </a:r>
            <a:endParaRPr sz="25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58384" y="2331720"/>
            <a:ext cx="20574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22976" y="2496312"/>
            <a:ext cx="484632" cy="384048"/>
          </a:xfrm>
          <a:prstGeom prst="round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551176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03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2976" y="3081527"/>
            <a:ext cx="1737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A43"/>
                </a:solidFill>
                <a:latin typeface="PingFang SC" panose="020B0400000000000000" charset="-122"/>
              </a:rPr>
              <a:t>授权取数</a:t>
            </a:r>
            <a:endParaRPr sz="16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22976" y="3557015"/>
            <a:ext cx="17373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386"/>
                </a:solidFill>
                <a:latin typeface="PingFang SC" panose="020B0400000000000000" charset="-122"/>
              </a:rPr>
              <a:t>工商先查
授权后查四类数据</a:t>
            </a:r>
            <a:endParaRPr sz="12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52359" y="3172968"/>
            <a:ext cx="228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A6A6"/>
                </a:solidFill>
                <a:latin typeface="PingFang SC" panose="020B0400000000000000" charset="-122"/>
              </a:rPr>
              <a:t>›</a:t>
            </a:r>
            <a:endParaRPr sz="25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17536" y="2331720"/>
            <a:ext cx="20574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82127" y="2496312"/>
            <a:ext cx="484632" cy="384048"/>
          </a:xfrm>
          <a:prstGeom prst="round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2551176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04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2127" y="3081527"/>
            <a:ext cx="1737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A43"/>
                </a:solidFill>
                <a:latin typeface="PingFang SC" panose="020B0400000000000000" charset="-122"/>
              </a:rPr>
              <a:t>逐款预审</a:t>
            </a:r>
            <a:endParaRPr sz="16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82127" y="3557015"/>
            <a:ext cx="17373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386"/>
                </a:solidFill>
                <a:latin typeface="PingFang SC" panose="020B0400000000000000" charset="-122"/>
              </a:rPr>
              <a:t>11 款逐项判断
合规名单排序</a:t>
            </a:r>
            <a:endParaRPr sz="12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11511" y="3172968"/>
            <a:ext cx="228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A6A6"/>
                </a:solidFill>
                <a:latin typeface="PingFang SC" panose="020B0400000000000000" charset="-122"/>
              </a:rPr>
              <a:t>›</a:t>
            </a:r>
            <a:endParaRPr sz="25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076688" y="2331720"/>
            <a:ext cx="20574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0" y="2496312"/>
            <a:ext cx="484632" cy="384048"/>
          </a:xfrm>
          <a:prstGeom prst="round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551176"/>
            <a:ext cx="457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05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41280" y="3081527"/>
            <a:ext cx="1737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A43"/>
                </a:solidFill>
                <a:latin typeface="PingFang SC" panose="020B0400000000000000" charset="-122"/>
              </a:rPr>
              <a:t>经理确认</a:t>
            </a:r>
            <a:endParaRPr sz="16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41280" y="3557015"/>
            <a:ext cx="17373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386"/>
                </a:solidFill>
                <a:latin typeface="PingFang SC" panose="020B0400000000000000" charset="-122"/>
              </a:rPr>
              <a:t>方案留痕
进入汇总与报告</a:t>
            </a:r>
            <a:endParaRPr sz="12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9808" y="4800600"/>
            <a:ext cx="10652760" cy="694944"/>
          </a:xfrm>
          <a:prstGeom prst="roundRect">
            <a:avLst/>
          </a:prstGeom>
          <a:solidFill>
            <a:srgbClr val="EDF3F8"/>
          </a:solidFill>
          <a:ln w="10160">
            <a:solidFill>
              <a:srgbClr val="ED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992624"/>
            <a:ext cx="101498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A43"/>
                </a:solidFill>
                <a:latin typeface="PingFang SC" panose="020B0400000000000000" charset="-122"/>
              </a:rPr>
              <a:t>未授权：停止敏感数据查询与预审     |     未获取：不猜测，按规则转人工复核</a:t>
            </a:r>
            <a:endParaRPr sz="14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04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产品条款结构化，预审结论逐项可解释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以说明书第三至第六条为准，不把宣传话术当准入条件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04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3310128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148840"/>
            <a:ext cx="64008" cy="246888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29260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A43"/>
                </a:solidFill>
                <a:latin typeface="PingFang SC" panose="020B0400000000000000" charset="-122"/>
              </a:rPr>
              <a:t>条款抽取</a:t>
            </a:r>
            <a:endParaRPr sz="1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2926080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354A"/>
                </a:solidFill>
                <a:latin typeface="PingFang SC" panose="020B0400000000000000" charset="-122"/>
              </a:rPr>
              <a:t>第三条  用途、期限
第四条  区域、行业
第五条  额度、利率、担保
第六条  准入条件</a:t>
            </a:r>
            <a:endParaRPr sz="130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61104" y="2148840"/>
            <a:ext cx="3310128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2148840"/>
            <a:ext cx="64008" cy="2468880"/>
          </a:xfrm>
          <a:prstGeom prst="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313432"/>
            <a:ext cx="29260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A43"/>
                </a:solidFill>
                <a:latin typeface="PingFang SC" panose="020B0400000000000000" charset="-122"/>
              </a:rPr>
              <a:t>18 条代码规则</a:t>
            </a:r>
            <a:endParaRPr sz="1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2272" y="2770632"/>
            <a:ext cx="2926080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354A"/>
                </a:solidFill>
                <a:latin typeface="PingFang SC" panose="020B0400000000000000" charset="-122"/>
              </a:rPr>
              <a:t>覆盖金额、期限、用途
企业状态、欠缴、失信
纳税、参保、资质等
每个产品保留命中原因</a:t>
            </a:r>
            <a:endParaRPr sz="130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08975" y="2148840"/>
            <a:ext cx="3310128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08975" y="2148840"/>
            <a:ext cx="64008" cy="2468880"/>
          </a:xfrm>
          <a:prstGeom prst="rect">
            <a:avLst/>
          </a:prstGeom>
          <a:solidFill>
            <a:srgbClr val="57B894"/>
          </a:solidFill>
          <a:ln w="10160">
            <a:solidFill>
              <a:srgbClr val="57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313432"/>
            <a:ext cx="29260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A43"/>
                </a:solidFill>
                <a:latin typeface="PingFang SC" panose="020B0400000000000000" charset="-122"/>
              </a:rPr>
              <a:t>结论与证据</a:t>
            </a:r>
            <a:endParaRPr sz="1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10144" y="2770632"/>
            <a:ext cx="2926080" cy="1719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0354A"/>
                </a:solidFill>
                <a:latin typeface="PingFang SC" panose="020B0400000000000000" charset="-122"/>
              </a:rPr>
              <a:t>准入符合 / 准入不符
需人工复核
名单最多 3 款
规则、字段、来源可追溯</a:t>
            </a:r>
            <a:endParaRPr sz="130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47548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5A55"/>
                </a:solidFill>
                <a:latin typeface="PingFang SC" panose="020B0400000000000000" charset="-122"/>
              </a:rPr>
              <a:t>导语、附章和营销数字不作为准入依据</a:t>
            </a:r>
            <a:endParaRPr sz="1300" b="1">
              <a:solidFill>
                <a:srgbClr val="C75A55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0" y="5074920"/>
            <a:ext cx="5486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A43"/>
                </a:solidFill>
                <a:latin typeface="PingFang SC" panose="020B0400000000000000" charset="-122"/>
              </a:rPr>
              <a:t>字段缺失或条件未知 → 不自动放行，交由人工判断</a:t>
            </a:r>
            <a:endParaRPr sz="13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05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Agent 做协同，代码掌握决策权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模型辅助理解与表达；授权、预审、排序由确定性逻辑控制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05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121408"/>
            <a:ext cx="5074920" cy="3127248"/>
          </a:xfrm>
          <a:prstGeom prst="roundRect">
            <a:avLst/>
          </a:prstGeom>
          <a:solidFill>
            <a:srgbClr val="EDF3F8"/>
          </a:solidFill>
          <a:ln w="10160">
            <a:solidFill>
              <a:srgbClr val="ED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2121408"/>
            <a:ext cx="5230368" cy="3127248"/>
          </a:xfrm>
          <a:prstGeom prst="roundRect">
            <a:avLst/>
          </a:prstGeom>
          <a:solidFill>
            <a:srgbClr val="DDF4EF"/>
          </a:solidFill>
          <a:ln w="10160">
            <a:solidFill>
              <a:srgbClr val="DD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95728"/>
            <a:ext cx="44805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364AA"/>
                </a:solidFill>
                <a:latin typeface="PingFang SC" panose="020B0400000000000000" charset="-122"/>
              </a:rPr>
              <a:t>可选模型：辅助理解与表达</a:t>
            </a:r>
            <a:endParaRPr sz="1700" b="1">
              <a:solidFill>
                <a:srgbClr val="2364AA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51560" y="2980944"/>
            <a:ext cx="4315968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054096"/>
            <a:ext cx="3931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0354A"/>
                </a:solidFill>
                <a:latin typeface="PingFang SC" panose="020B0400000000000000" charset="-122"/>
              </a:rPr>
              <a:t>•  提出意图 / 工具建议</a:t>
            </a:r>
            <a:endParaRPr sz="12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51560" y="3575303"/>
            <a:ext cx="4315968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3648456"/>
            <a:ext cx="3931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0354A"/>
                </a:solidFill>
                <a:latin typeface="PingFang SC" panose="020B0400000000000000" charset="-122"/>
              </a:rPr>
              <a:t>•  补充未识别字段（代码复核）</a:t>
            </a:r>
            <a:endParaRPr sz="12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560" y="4169663"/>
            <a:ext cx="4315968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4242816"/>
            <a:ext cx="39319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0354A"/>
                </a:solidFill>
                <a:latin typeface="PingFang SC" panose="020B0400000000000000" charset="-122"/>
              </a:rPr>
              <a:t>•  总结已算出的结构化结果</a:t>
            </a:r>
            <a:endParaRPr sz="12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395728"/>
            <a:ext cx="4572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735D"/>
                </a:solidFill>
                <a:latin typeface="PingFang SC" panose="020B0400000000000000" charset="-122"/>
              </a:rPr>
              <a:t>确定性代码：掌握业务裁决</a:t>
            </a:r>
            <a:endParaRPr sz="1700" b="1">
              <a:solidFill>
                <a:srgbClr val="26735D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10528" y="2980944"/>
            <a:ext cx="4462272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3054096"/>
            <a:ext cx="406908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0354A"/>
                </a:solidFill>
                <a:latin typeface="PingFang SC" panose="020B0400000000000000" charset="-122"/>
              </a:rPr>
              <a:t>✓  授权闸门与白名单取数</a:t>
            </a:r>
            <a:endParaRPr sz="12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10528" y="3575303"/>
            <a:ext cx="4462272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3648456"/>
            <a:ext cx="406908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0354A"/>
                </a:solidFill>
                <a:latin typeface="PingFang SC" panose="020B0400000000000000" charset="-122"/>
              </a:rPr>
              <a:t>✓  18 条预审规则与产品排序</a:t>
            </a:r>
            <a:endParaRPr sz="12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10528" y="4169663"/>
            <a:ext cx="4462272" cy="429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4264" y="4242816"/>
            <a:ext cx="406908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0354A"/>
                </a:solidFill>
                <a:latin typeface="PingFang SC" panose="020B0400000000000000" charset="-122"/>
              </a:rPr>
              <a:t>✓  方案状态、统计与 trace 留痕</a:t>
            </a:r>
            <a:endParaRPr sz="12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0120" y="5541264"/>
            <a:ext cx="10241280" cy="475488"/>
          </a:xfrm>
          <a:prstGeom prst="roundRect">
            <a:avLst/>
          </a:prstGeom>
          <a:solidFill>
            <a:srgbClr val="142A43"/>
          </a:solidFill>
          <a:ln w="10160">
            <a:solidFill>
              <a:srgbClr val="14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5623560"/>
            <a:ext cx="9893808" cy="25463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 panose="020B0400000000000000" charset="-122"/>
              </a:rPr>
              <a:t>没有密钥模型失败：本地规则仍可完成核心预审链路</a:t>
            </a:r>
            <a:endParaRPr sz="13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06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把授权与数据边界放进流程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未授权即停止；默认本地运行；模型外送可选、范围受限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06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50749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48840"/>
            <a:ext cx="64008" cy="1124712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313432"/>
            <a:ext cx="46908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授权硬闸门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770632"/>
            <a:ext cx="4690872" cy="3749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0354A"/>
                </a:solidFill>
                <a:latin typeface="PingFang SC" panose="020B0400000000000000" charset="-122"/>
              </a:rPr>
              <a:t>未授权，不调取税务、社保、司法、融资历史。</a:t>
            </a:r>
            <a:endParaRPr sz="11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6208" y="2148840"/>
            <a:ext cx="50749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148840"/>
            <a:ext cx="64008" cy="1124712"/>
          </a:xfrm>
          <a:prstGeom prst="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313432"/>
            <a:ext cx="46908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最小外送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7376" y="2770632"/>
            <a:ext cx="4690872" cy="3749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0354A"/>
                </a:solidFill>
                <a:latin typeface="PingFang SC" panose="020B0400000000000000" charset="-122"/>
              </a:rPr>
              <a:t>模型可选；不送统一社会信用代码、法定代表人和明细。</a:t>
            </a:r>
            <a:endParaRPr sz="11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" y="3566160"/>
            <a:ext cx="50749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566160"/>
            <a:ext cx="64008" cy="1124712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730752"/>
            <a:ext cx="46908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失败降级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187952"/>
            <a:ext cx="4690872" cy="3749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0354A"/>
                </a:solidFill>
                <a:latin typeface="PingFang SC" panose="020B0400000000000000" charset="-122"/>
              </a:rPr>
              <a:t>来源不可用时标记未获取，不以猜测补齐事实。</a:t>
            </a:r>
            <a:endParaRPr sz="11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36208" y="3566160"/>
            <a:ext cx="507492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3566160"/>
            <a:ext cx="64008" cy="1124712"/>
          </a:xfrm>
          <a:prstGeom prst="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730752"/>
            <a:ext cx="46908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PingFang SC" panose="020B0400000000000000" charset="-122"/>
              </a:rPr>
              <a:t>业务边界</a:t>
            </a:r>
            <a:endParaRPr sz="15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37376" y="4187952"/>
            <a:ext cx="4690872" cy="3749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0354A"/>
                </a:solidFill>
                <a:latin typeface="PingFang SC" panose="020B0400000000000000" charset="-122"/>
              </a:rPr>
              <a:t>预审仅供参考；经理确认不等于审批或放款。</a:t>
            </a:r>
            <a:endParaRPr sz="115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1248" y="5257800"/>
            <a:ext cx="10469880" cy="713232"/>
          </a:xfrm>
          <a:prstGeom prst="roundRect">
            <a:avLst/>
          </a:prstGeom>
          <a:solidFill>
            <a:srgbClr val="FFF4DD"/>
          </a:solidFill>
          <a:ln w="10160">
            <a:solidFill>
              <a:srgbClr val="F2D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58968"/>
            <a:ext cx="10058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15B18"/>
                </a:solidFill>
                <a:latin typeface="PingFang SC" panose="020B0400000000000000" charset="-122"/>
              </a:rPr>
              <a:t>上线前待补齐：真实授权核验、身份认证、正式数据接口与审计</a:t>
            </a:r>
            <a:endParaRPr sz="1400" b="1">
              <a:solidFill>
                <a:srgbClr val="815B1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07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验证结果：规则可复算，范围如实说明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公开集有标准答案；现场加试只有输入，因此不虚报准确率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07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4088" y="2084831"/>
            <a:ext cx="513892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2084831"/>
            <a:ext cx="82296" cy="1298448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21488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0A6A6"/>
                </a:solidFill>
                <a:latin typeface="PingFang SC" panose="020B0400000000000000" charset="-122"/>
              </a:rPr>
              <a:t>15 / 15</a:t>
            </a:r>
            <a:endParaRPr sz="25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9816" y="2304287"/>
            <a:ext cx="245059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A43"/>
                </a:solidFill>
                <a:latin typeface="PingFang SC" panose="020B0400000000000000" charset="-122"/>
              </a:rPr>
              <a:t>公开题目一致</a:t>
            </a:r>
            <a:endParaRPr sz="14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" y="2889503"/>
            <a:ext cx="45720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7386"/>
                </a:solidFill>
                <a:latin typeface="PingFang SC" panose="020B0400000000000000" charset="-122"/>
              </a:rPr>
              <a:t>规则模式、模型辅助模式均与标准结果一致</a:t>
            </a:r>
            <a:endParaRPr sz="10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0488" y="2084831"/>
            <a:ext cx="513892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84831"/>
            <a:ext cx="82296" cy="1298448"/>
          </a:xfrm>
          <a:prstGeom prst="rect">
            <a:avLst/>
          </a:prstGeom>
          <a:solidFill>
            <a:srgbClr val="2364AA"/>
          </a:solidFill>
          <a:ln w="1016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67712"/>
            <a:ext cx="21488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364AA"/>
                </a:solidFill>
                <a:latin typeface="PingFang SC" panose="020B0400000000000000" charset="-122"/>
              </a:rPr>
              <a:t>121 / 121</a:t>
            </a:r>
            <a:endParaRPr sz="2500" b="1">
              <a:solidFill>
                <a:srgbClr val="2364AA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86216" y="2304287"/>
            <a:ext cx="245059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A43"/>
                </a:solidFill>
                <a:latin typeface="PingFang SC" panose="020B0400000000000000" charset="-122"/>
              </a:rPr>
              <a:t>产品级结论与原因</a:t>
            </a:r>
            <a:endParaRPr sz="14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64807" y="2889503"/>
            <a:ext cx="45720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7386"/>
                </a:solidFill>
                <a:latin typeface="PingFang SC" panose="020B0400000000000000" charset="-122"/>
              </a:rPr>
              <a:t>11 道名单题 × 11 份产品</a:t>
            </a:r>
            <a:endParaRPr sz="10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04088" y="3602735"/>
            <a:ext cx="513892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" y="3602735"/>
            <a:ext cx="82296" cy="1298448"/>
          </a:xfrm>
          <a:prstGeom prst="rect">
            <a:avLst/>
          </a:prstGeom>
          <a:solidFill>
            <a:srgbClr val="57B894"/>
          </a:solidFill>
          <a:ln w="10160">
            <a:solidFill>
              <a:srgbClr val="57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85615"/>
            <a:ext cx="21488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7B894"/>
                </a:solidFill>
                <a:latin typeface="PingFang SC" panose="020B0400000000000000" charset="-122"/>
              </a:rPr>
              <a:t>53 项</a:t>
            </a:r>
            <a:endParaRPr sz="2500" b="1">
              <a:solidFill>
                <a:srgbClr val="57B894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99816" y="3822191"/>
            <a:ext cx="245059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A43"/>
                </a:solidFill>
                <a:latin typeface="PingFang SC" panose="020B0400000000000000" charset="-122"/>
              </a:rPr>
              <a:t>自动化测试通过</a:t>
            </a:r>
            <a:endParaRPr sz="14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8408" y="4407407"/>
            <a:ext cx="45720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7386"/>
                </a:solidFill>
                <a:latin typeface="PingFang SC" panose="020B0400000000000000" charset="-122"/>
              </a:rPr>
              <a:t>覆盖规则边界、授权、记忆与失败降级</a:t>
            </a:r>
            <a:endParaRPr sz="10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90488" y="3602735"/>
            <a:ext cx="513892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602735"/>
            <a:ext cx="82296" cy="1298448"/>
          </a:xfrm>
          <a:prstGeom prst="rect">
            <a:avLst/>
          </a:prstGeom>
          <a:solidFill>
            <a:srgbClr val="F2B84B"/>
          </a:solidFill>
          <a:ln w="1016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85615"/>
            <a:ext cx="214884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2B84B"/>
                </a:solidFill>
                <a:latin typeface="PingFang SC" panose="020B0400000000000000" charset="-122"/>
              </a:rPr>
              <a:t>30 / 30</a:t>
            </a:r>
            <a:endParaRPr sz="2500" b="1">
              <a:solidFill>
                <a:srgbClr val="F2B84B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86216" y="3822191"/>
            <a:ext cx="245059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2A43"/>
                </a:solidFill>
                <a:latin typeface="PingFang SC" panose="020B0400000000000000" charset="-122"/>
              </a:rPr>
              <a:t>现场加试有回复</a:t>
            </a:r>
            <a:endParaRPr sz="14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64807" y="4407407"/>
            <a:ext cx="45720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07386"/>
                </a:solidFill>
                <a:latin typeface="PingFang SC" panose="020B0400000000000000" charset="-122"/>
              </a:rPr>
              <a:t>29 个会话；输入无标准答案，不报准确率</a:t>
            </a:r>
            <a:endParaRPr sz="105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" y="5388102"/>
            <a:ext cx="107899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75A55"/>
                </a:solidFill>
                <a:latin typeface="PingFang SC" panose="020B0400000000000000" charset="-122"/>
              </a:rPr>
              <a:t>赛事样本验证 ≠ 真实业务准确率；非公开集只证明批测运行与记录覆盖。</a:t>
            </a:r>
            <a:endParaRPr sz="1250" b="1">
              <a:solidFill>
                <a:srgbClr val="C75A55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A6A6"/>
                </a:solidFill>
                <a:latin typeface="PingFang SC" panose="020B0400000000000000" charset="-122"/>
              </a:rPr>
              <a:t>08  /  项目路演</a:t>
            </a:r>
            <a:endParaRPr sz="900" b="1">
              <a:solidFill>
                <a:srgbClr val="00A6A6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A43"/>
                </a:solidFill>
                <a:latin typeface="PingFang SC" panose="020B0400000000000000" charset="-122"/>
              </a:rPr>
              <a:t>从可运行原型到业务试点</a:t>
            </a:r>
            <a:endParaRPr sz="2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386"/>
                </a:solidFill>
                <a:latin typeface="PingFang SC" panose="020B0400000000000000" charset="-122"/>
              </a:rPr>
              <a:t>已交付本地系统；下一步补齐真实身份、授权与效果评估</a:t>
            </a:r>
            <a:endParaRPr sz="1300" b="0">
              <a:solidFill>
                <a:srgbClr val="607386"/>
              </a:solidFill>
              <a:latin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2648" y="1755648"/>
            <a:ext cx="594360" cy="4572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A8B99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7A8B99"/>
                </a:solidFill>
                <a:latin typeface="PingFang SC" panose="020B0400000000000000" charset="-122"/>
              </a:rPr>
              <a:t>08  /  09</a:t>
            </a:r>
            <a:endParaRPr sz="800" b="0">
              <a:solidFill>
                <a:srgbClr val="7A8B99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148840"/>
            <a:ext cx="5047488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48840"/>
            <a:ext cx="64008" cy="297180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313432"/>
            <a:ext cx="46634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A43"/>
                </a:solidFill>
                <a:latin typeface="PingFang SC" panose="020B0400000000000000" charset="-122"/>
              </a:rPr>
              <a:t>现在已具备</a:t>
            </a:r>
            <a:endParaRPr sz="1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770632"/>
            <a:ext cx="4663440" cy="2221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354A"/>
                </a:solidFill>
                <a:latin typeface="PingFang SC" panose="020B0400000000000000" charset="-122"/>
              </a:rPr>
              <a:t>本地可运行全栈原型
离线 wheel 安装路径
产品抽取、预审、排序、trace
公开与现场加试会话留档</a:t>
            </a:r>
            <a:endParaRPr sz="140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6208" y="2148840"/>
            <a:ext cx="5047488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2148840"/>
            <a:ext cx="64008" cy="2971800"/>
          </a:xfrm>
          <a:prstGeom prst="rect">
            <a:avLst/>
          </a:prstGeom>
          <a:solidFill>
            <a:srgbClr val="F2B84B"/>
          </a:solidFill>
          <a:ln w="1016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313432"/>
            <a:ext cx="46634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A43"/>
                </a:solidFill>
                <a:latin typeface="PingFang SC" panose="020B0400000000000000" charset="-122"/>
              </a:rPr>
              <a:t>试点前必须补齐</a:t>
            </a:r>
            <a:endParaRPr sz="170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7376" y="2770632"/>
            <a:ext cx="4663440" cy="2221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0354A"/>
                </a:solidFill>
                <a:latin typeface="PingFang SC" panose="020B0400000000000000" charset="-122"/>
              </a:rPr>
              <a:t>身份认证与正式权限
可验证的数据授权流程
经审批的数据服务接口
安全评估、监控与审计</a:t>
            </a:r>
            <a:endParaRPr sz="1400" b="0">
              <a:solidFill>
                <a:srgbClr val="20354A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2" y="5440680"/>
            <a:ext cx="104241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42A43"/>
                </a:solidFill>
                <a:latin typeface="PingFang SC" panose="020B0400000000000000" charset="-122"/>
              </a:rPr>
              <a:t>试点评估：单笔处理时间  ·  人工复核率  ·  缺失数据率  ·  推荐采纳率</a:t>
            </a:r>
            <a:endParaRPr sz="1250" b="1">
              <a:solidFill>
                <a:srgbClr val="142A43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691640"/>
            <a:ext cx="7680960" cy="1554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SC" panose="020B0400000000000000" charset="-122"/>
              </a:rPr>
              <a:t>让规则透明，
让模型有边界。</a:t>
            </a:r>
            <a:endParaRPr sz="3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675887"/>
            <a:ext cx="7772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A9C0D2"/>
                </a:solidFill>
                <a:latin typeface="PingFang SC" panose="020B0400000000000000" charset="-122"/>
              </a:rPr>
              <a:t>CtrlShiftAI  ·  企业智能融资匹配平台</a:t>
            </a:r>
            <a:endParaRPr sz="1900" b="0">
              <a:solidFill>
                <a:srgbClr val="A9C0D2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5074920"/>
            <a:ext cx="50292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8D6CF"/>
                </a:solidFill>
                <a:latin typeface="PingFang SC" panose="020B0400000000000000" charset="-122"/>
              </a:rPr>
              <a:t>谢谢各位评委，欢迎提问</a:t>
            </a:r>
            <a:endParaRPr sz="1600" b="1">
              <a:solidFill>
                <a:srgbClr val="78D6CF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4297680" cy="1645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7BDCF"/>
                </a:solidFill>
                <a:latin typeface="PingFang SC" panose="020B0400000000000000" charset="-122"/>
              </a:rPr>
              <a:t>CTRLSHIFTAI  /  赛题05</a:t>
            </a:r>
            <a:endParaRPr sz="800" b="1">
              <a:solidFill>
                <a:srgbClr val="A7BDCF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772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7BDCF"/>
                </a:solidFill>
                <a:latin typeface="PingFang SC" panose="020B0400000000000000" charset="-122"/>
              </a:rPr>
              <a:t>09  /  09</a:t>
            </a:r>
            <a:endParaRPr sz="800" b="0">
              <a:solidFill>
                <a:srgbClr val="A7BDC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WPS 文字</Application>
  <PresentationFormat>On-screen Show (4:3)</PresentationFormat>
  <Paragraphs>252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Claire</cp:lastModifiedBy>
  <cp:revision>3</cp:revision>
  <dcterms:created xsi:type="dcterms:W3CDTF">2026-10-26T01:13:33Z</dcterms:created>
  <dcterms:modified xsi:type="dcterms:W3CDTF">2026-10-26T01:13:33Z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C392254976A4F44410A9DD6AE069AC7C_42</vt:lpwstr>
  </property>
</Properties>
</file>